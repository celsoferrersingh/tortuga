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P(incidente no próximo turno)</c:v>
                </c:pt>
              </c:strCache>
            </c:strRef>
          </c:tx>
          <c:spPr>
            <a:solidFill>
              <a:srgbClr val="FF3B3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1D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OP-007</c:v>
                  </c:pt>
                  <c:pt idx="1">
                    <c:v>OP-009</c:v>
                  </c:pt>
                  <c:pt idx="2">
                    <c:v>OP-003</c:v>
                  </c:pt>
                  <c:pt idx="3">
                    <c:v>OP-006</c:v>
                  </c:pt>
                  <c:pt idx="4">
                    <c:v>OP-001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59</c:v>
                </c:pt>
                <c:pt idx="2">
                  <c:v>36</c:v>
                </c:pt>
                <c:pt idx="3">
                  <c:v>30</c:v>
                </c:pt>
                <c:pt idx="4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D1D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1D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Este é o material para a validação interna com o coordenador; a banca com a SPI é semana que vem. Frase-guia: o objetivo não é detectar a infração, é prever o risco antes que ela aconteça.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modelo atual de segurança é reativo. A câmera IP já está lá, mas só documenta o acidente depois que aconteceu. Nosso ponto de partida é inverter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virada do produto: a mesma câmera vira um sensor cognitivo. Três princípios do descritivo: prever não punir, pessoas no centro, privacidade desde o desenho.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descritivo insiste: pensar como um único produto evolutivo. Aquisição (câmera IP) -&gt; visão (Fases 1 e 2 em paralelo) -&gt; engine de decisão -&gt; notificação (Fase 3) -&gt; validação (Fase 4). Tudo sobre o mesmo 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Detectamos os 5 EPIs obrigatórios do descritivo (+ máscara). O diferencial de engenharia: inferimos a AUSÊNCIA sem precisar de uma classe negativa, e atribuímos à pessoa certa em cena multi-pessoa. Ser honesto: o estado 'uso incorreto' fino — óculos na testa, colete na cintura — a gente fecha com o dataset real da SPI.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2 amplia a percepção. RULA/REBA transforma norma em número (NR-17). Predição de queda é o out-of-the-box valorizado: antecipar 0,5 a 1 segundo antes do impacto. E multi-pessoa, porque a fábrica nunca tem só uma pessoa em cena.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canais, como o descritivo exige: um de campo perceptível pelo operador (o cinto) e um de gestão (o dashboard). Política de severidade em 3 níveis define canal e prazo. Linguagem educativa: 'Capacete necessário nesta área', não 'você está infringindo'.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o coração da apresentação. Todo mundo detecta EPI. Nós modelamos a TAXA de eventos de cada operador e prevemos a probabilidade de incidente — e validamos estatisticamente quem está acima da média. É o pilar 'Ciência de Dados Aplicada' do descritivo.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com calma. λ̂ é a taxa histórica. P = 1 - e^(-λ̂) é a chance de pelo menos um evento no próximo turno. O IC pelo Teorema do Limite Central mostra a incerteza. E o teste de hipóteses separa sinal de ruído: só sinalizamos quem está estatisticamente acima da base, com p &lt; 0,05.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da demo (dados sintéticos). O ranking prioriza quem tem maior probabilidade. OP-007 e OP-009 passam no teste de significância -&gt; recebem micro-treino dirigido. Os outros não. É prevenção pedagógica, não punição. Na banca eu alimento o dashboard com dado real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da Banca 2 pedia zonas de risco configuráveis. Fomos além: o sistema SUGERE o nível de cada área com a mesma estatística, mas quem decide é o gestor. IA como copiloto, não como juiz.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estímulos out-of-the-box da Fase 3 que escolhemos. Tudo alinhado ao princípio 'prever, não punir'. O wearable é o nosso cinto, não um smartwatch genérico.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4 é o teste de fogo. Cobrimos os estímulos out-of-the-box: replicabilidade, ajuste fino on-site, múltiplos pontos de visão com fusão, condições adversas e auditabilidade. E resolvemos honestamente a bateria do cinto com modem-sleep.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honestidade — o descritivo valoriza isso ('robustez sobre exibicionismo'). As 4 fases estão com o escopo obrigatório atendido. O que falta é dataset próprio da SPI (entra esta semana), o estado 'uso incorreto' fino, e os entregáveis finais. Nada disso é maquiado.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sugerida da demo. Comece pelo self-test (prova de sanidade), depois o dashboard mostrando o diferencial Poisson, e só então a detecção ao vivo. Feche com auditoria e doctor. Cada .bat está na raiz C:\tortuga.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frases de efeito para ancorar a conversa com o coordenador. A primeira é a mais importante: o diferencial é ciência de dados, não só mais um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Reforce a inversão: da detecção à prevenção. Próximo passo real: dataset da SPI e banca com a empresa semana que 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</a:rPr>
              <a:t>Tortuga</a:t>
            </a:r>
            <a:pPr algn="l" indent="0" marL="0">
              <a:buNone/>
            </a:pPr>
            <a:r>
              <a:rPr lang="en-US" sz="6600" b="1" dirty="0">
                <a:solidFill>
                  <a:srgbClr val="2997FF"/>
                </a:solidFill>
              </a:rPr>
              <a:t>.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C7C7CC"/>
                </a:solidFill>
              </a:rPr>
              <a:t>A câmera que já existe — agora prevê o acidente.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6E73"/>
                </a:solidFill>
              </a:rPr>
              <a:t>Visão computacional para proteção ativa de trabalhadores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E6E73"/>
                </a:solidFill>
              </a:rPr>
              <a:t>Apresentação ao professor coordenador  ·  Innovation Challenge CUP 2026  ·  FIAP × SPI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3B30"/>
                </a:solidFill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câmera do chão de fábrica vê tudo. E não entende nada.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3422904" cy="2377440"/>
          </a:xfrm>
          <a:prstGeom prst="roundRect">
            <a:avLst>
              <a:gd name="adj" fmla="val 3462"/>
            </a:avLst>
          </a:prstGeom>
          <a:solidFill>
            <a:srgbClr val="15151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880360"/>
            <a:ext cx="3331464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3B30"/>
                </a:solidFill>
              </a:rPr>
              <a:t>&lt; 1s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3977640"/>
            <a:ext cx="3240024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6"/>
                </a:solidFill>
              </a:rPr>
              <a:t>é o tempo de uma queda — mais rápido que qualquer supervisor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45864" y="2651760"/>
            <a:ext cx="3422904" cy="2377440"/>
          </a:xfrm>
          <a:prstGeom prst="roundRect">
            <a:avLst>
              <a:gd name="adj" fmla="val 3462"/>
            </a:avLst>
          </a:prstGeom>
          <a:solidFill>
            <a:srgbClr val="151515"/>
          </a:solidFill>
          <a:ln/>
        </p:spPr>
      </p:sp>
      <p:sp>
        <p:nvSpPr>
          <p:cNvPr id="8" name="Text 6"/>
          <p:cNvSpPr/>
          <p:nvPr/>
        </p:nvSpPr>
        <p:spPr>
          <a:xfrm>
            <a:off x="4291584" y="2880360"/>
            <a:ext cx="3331464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291584" y="3977640"/>
            <a:ext cx="3240024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6"/>
                </a:solidFill>
              </a:rPr>
              <a:t>EPIs para checar, por pessoa, o tempo todo, em cada posto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43088" y="2651760"/>
            <a:ext cx="3422904" cy="2377440"/>
          </a:xfrm>
          <a:prstGeom prst="roundRect">
            <a:avLst>
              <a:gd name="adj" fmla="val 3462"/>
            </a:avLst>
          </a:prstGeom>
          <a:solidFill>
            <a:srgbClr val="151515"/>
          </a:solidFill>
          <a:ln/>
        </p:spPr>
      </p:sp>
      <p:sp>
        <p:nvSpPr>
          <p:cNvPr id="11" name="Text 9"/>
          <p:cNvSpPr/>
          <p:nvPr/>
        </p:nvSpPr>
        <p:spPr>
          <a:xfrm>
            <a:off x="7988808" y="2880360"/>
            <a:ext cx="3331464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24/7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988808" y="3977640"/>
            <a:ext cx="3240024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6"/>
                </a:solidFill>
              </a:rPr>
              <a:t>de vigilância humana é caro, cansa e falha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7C7CC"/>
                </a:solidFill>
              </a:rPr>
              <a:t>Modelo reativo: registra, pune e arquiva — sem prever, sem prevenir.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</a:rPr>
              <a:t>A VIRADA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D1D1F"/>
                </a:solidFill>
              </a:rPr>
              <a:t>E se a câmera que você </a:t>
            </a:r>
            <a:pPr algn="l" indent="0" marL="0">
              <a:buNone/>
            </a:pPr>
            <a:r>
              <a:rPr lang="en-US" sz="3400" b="1" dirty="0">
                <a:solidFill>
                  <a:srgbClr val="0071E3"/>
                </a:solidFill>
              </a:rPr>
              <a:t>já tem</a:t>
            </a:r>
            <a:pPr algn="l" indent="0" marL="0">
              <a:buNone/>
            </a:pPr>
            <a:r>
              <a:rPr lang="en-US" sz="3400" b="1" dirty="0">
                <a:solidFill>
                  <a:srgbClr val="1D1D1F"/>
                </a:solidFill>
              </a:rPr>
              <a:t> pudesse prever o acidente?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6E6E73"/>
                </a:solidFill>
              </a:rPr>
              <a:t>Prever, não punir. Sem trocar o hardware da planta. Sem nuvem obrigatória.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310896" cy="31089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Uma camada de inteligência sobre o stream que já existe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956048"/>
            <a:ext cx="310896" cy="31089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956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49560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Linguagem educativa, não constrangedora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614416"/>
            <a:ext cx="310896" cy="31089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614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56144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Privacidade e LGPD desde o desenho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produto, quatro fases evolutivas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67178" cy="2743200"/>
          </a:xfrm>
          <a:prstGeom prst="roundRect">
            <a:avLst>
              <a:gd name="adj" fmla="val 3206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Fase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</a:rPr>
              <a:t>Detecção de EPIs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</a:rPr>
              <a:t>O que veste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0138" y="2194560"/>
            <a:ext cx="2567178" cy="2743200"/>
          </a:xfrm>
          <a:prstGeom prst="roundRect">
            <a:avLst>
              <a:gd name="adj" fmla="val 3206"/>
            </a:avLst>
          </a:prstGeom>
          <a:solidFill>
            <a:srgbClr val="F5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3618738" y="2423160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361873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8738" y="306324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Fase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8738" y="34290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</a:rPr>
              <a:t>Pose + comportamento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8738" y="434340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</a:rPr>
              <a:t>Como se move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2194560"/>
            <a:ext cx="2567178" cy="2743200"/>
          </a:xfrm>
          <a:prstGeom prst="roundRect">
            <a:avLst>
              <a:gd name="adj" fmla="val 3206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60236" y="2423160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8" name="Text 16"/>
          <p:cNvSpPr/>
          <p:nvPr/>
        </p:nvSpPr>
        <p:spPr>
          <a:xfrm>
            <a:off x="6460236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0236" y="306324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Fase 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0236" y="34290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</a:rPr>
              <a:t>Notificação inteligente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60236" y="434340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</a:rPr>
              <a:t>Da detecção à ação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73134" y="2194560"/>
            <a:ext cx="2567178" cy="2743200"/>
          </a:xfrm>
          <a:prstGeom prst="roundRect">
            <a:avLst>
              <a:gd name="adj" fmla="val 3206"/>
            </a:avLst>
          </a:prstGeom>
          <a:solidFill>
            <a:srgbClr val="F5F5F7"/>
          </a:solidFill>
          <a:ln/>
        </p:spPr>
      </p:sp>
      <p:sp>
        <p:nvSpPr>
          <p:cNvPr id="23" name="Shape 21"/>
          <p:cNvSpPr/>
          <p:nvPr/>
        </p:nvSpPr>
        <p:spPr>
          <a:xfrm>
            <a:off x="9301734" y="2423160"/>
            <a:ext cx="457200" cy="457200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4" name="Text 22"/>
          <p:cNvSpPr/>
          <p:nvPr/>
        </p:nvSpPr>
        <p:spPr>
          <a:xfrm>
            <a:off x="9301734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01734" y="3063240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Fase 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01734" y="3429000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</a:rPr>
              <a:t>Validação industrial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301734" y="434340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</a:rPr>
              <a:t>No chão de fábrica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73"/>
                </a:solidFill>
              </a:rPr>
              <a:t>A mesma pilha, integrada — não quatro projetos soltos. A coerência entre as fases é critério de avaliação.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</a:rPr>
              <a:t>FASE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trabalhador veste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35454" cy="868680"/>
          </a:xfrm>
          <a:prstGeom prst="roundRect">
            <a:avLst>
              <a:gd name="adj" fmla="val 9474"/>
            </a:avLst>
          </a:prstGeom>
          <a:solidFill>
            <a:srgbClr val="EAF3F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20240"/>
            <a:ext cx="19440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58B0"/>
                </a:solidFill>
              </a:rPr>
              <a:t>Capacete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66974" y="1920240"/>
            <a:ext cx="2035454" cy="868680"/>
          </a:xfrm>
          <a:prstGeom prst="roundRect">
            <a:avLst>
              <a:gd name="adj" fmla="val 9474"/>
            </a:avLst>
          </a:prstGeom>
          <a:solidFill>
            <a:srgbClr val="EAF3FB"/>
          </a:solidFill>
          <a:ln/>
        </p:spPr>
      </p:sp>
      <p:sp>
        <p:nvSpPr>
          <p:cNvPr id="7" name="Text 5"/>
          <p:cNvSpPr/>
          <p:nvPr/>
        </p:nvSpPr>
        <p:spPr>
          <a:xfrm>
            <a:off x="2812694" y="1920240"/>
            <a:ext cx="19440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58B0"/>
                </a:solidFill>
              </a:rPr>
              <a:t>Óculos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85309" y="1920240"/>
            <a:ext cx="2035454" cy="868680"/>
          </a:xfrm>
          <a:prstGeom prst="roundRect">
            <a:avLst>
              <a:gd name="adj" fmla="val 9474"/>
            </a:avLst>
          </a:prstGeom>
          <a:solidFill>
            <a:srgbClr val="EAF3FB"/>
          </a:solidFill>
          <a:ln/>
        </p:spPr>
      </p:sp>
      <p:sp>
        <p:nvSpPr>
          <p:cNvPr id="9" name="Text 7"/>
          <p:cNvSpPr/>
          <p:nvPr/>
        </p:nvSpPr>
        <p:spPr>
          <a:xfrm>
            <a:off x="5031029" y="1920240"/>
            <a:ext cx="19440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58B0"/>
                </a:solidFill>
              </a:rPr>
              <a:t>Protetor auricular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203643" y="1920240"/>
            <a:ext cx="2035454" cy="868680"/>
          </a:xfrm>
          <a:prstGeom prst="roundRect">
            <a:avLst>
              <a:gd name="adj" fmla="val 9474"/>
            </a:avLst>
          </a:prstGeom>
          <a:solidFill>
            <a:srgbClr val="EAF3FB"/>
          </a:solidFill>
          <a:ln/>
        </p:spPr>
      </p:sp>
      <p:sp>
        <p:nvSpPr>
          <p:cNvPr id="11" name="Text 9"/>
          <p:cNvSpPr/>
          <p:nvPr/>
        </p:nvSpPr>
        <p:spPr>
          <a:xfrm>
            <a:off x="7249363" y="1920240"/>
            <a:ext cx="19440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58B0"/>
                </a:solidFill>
              </a:rPr>
              <a:t>Bota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421978" y="1920240"/>
            <a:ext cx="2035454" cy="868680"/>
          </a:xfrm>
          <a:prstGeom prst="roundRect">
            <a:avLst>
              <a:gd name="adj" fmla="val 9474"/>
            </a:avLst>
          </a:prstGeom>
          <a:solidFill>
            <a:srgbClr val="EAF3FB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698" y="1920240"/>
            <a:ext cx="19440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58B0"/>
                </a:solidFill>
              </a:rPr>
              <a:t>Colete (EPC)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</a:rPr>
              <a:t>Três estados por item: em uso correto · uso incorreto · ausente.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3468624" cy="1737360"/>
          </a:xfrm>
          <a:prstGeom prst="roundRect">
            <a:avLst>
              <a:gd name="adj" fmla="val 4737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</a:rPr>
              <a:t>Atribuição por pessoa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3194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Ausência inferida sem classe "NO-X", atribuída ao indivíduo certo mesmo com várias pessoas em cena.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45864" y="3520440"/>
            <a:ext cx="3468624" cy="1737360"/>
          </a:xfrm>
          <a:prstGeom prst="roundRect">
            <a:avLst>
              <a:gd name="adj" fmla="val 4737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4428744" y="370332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</a:rPr>
              <a:t>Uso situacional por zona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28744" y="4160520"/>
            <a:ext cx="3194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O EPI exigido depende da estação: zonas e regras configuráveis pelo gestor.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43088" y="3520440"/>
            <a:ext cx="3468624" cy="1737360"/>
          </a:xfrm>
          <a:prstGeom prst="roundRect">
            <a:avLst>
              <a:gd name="adj" fmla="val 4737"/>
            </a:avLst>
          </a:prstGeom>
          <a:solidFill>
            <a:srgbClr val="F5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8125968" y="370332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</a:rPr>
              <a:t>Histórico individual (LGPD)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25968" y="4160520"/>
            <a:ext cx="3194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Operador anonimizado por QR/crachá (OP-XXX) — base para o diferencial preditivo.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</a:rPr>
              <a:t>Norma de fundo: NR-06 (EPI) · NR-12 (zonas de perigo) · NR-35 (altura).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</a:rPr>
              <a:t>FASE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se move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331720"/>
            <a:ext cx="402336" cy="40233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304288"/>
            <a:ext cx="44942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17 keypoints (COCO)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724912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</a:rPr>
              <a:t>Estimação de pose corporal sobre o mesmo stream da Fase 1.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210312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2331720"/>
            <a:ext cx="402336" cy="40233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08876" y="2304288"/>
            <a:ext cx="44942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RULA / REBA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08876" y="2724912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</a:rPr>
              <a:t>Coordenadas viram score ergonômico automático — NR-17, sem planilha.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931920"/>
            <a:ext cx="402336" cy="40233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3904488"/>
            <a:ext cx="44942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Predição de queda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325112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</a:rPr>
              <a:t>Velocidade angular do tronco antecipa a queda 0,5–1,5 s antes do impacto (NR-35).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1636" y="370332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931920"/>
            <a:ext cx="402336" cy="402336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08876" y="3904488"/>
            <a:ext cx="44942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Multi-pessoa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08876" y="4325112"/>
            <a:ext cx="44485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</a:rPr>
              <a:t>Trata várias pessoas e a distância segura entre operadores.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73"/>
                </a:solidFill>
              </a:rPr>
              <a:t>Da percepção do que ele VESTE para como ele SE MOVE — e onde.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</a:rPr>
              <a:t>FASE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detecção à ação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62956" cy="27432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3172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1E3"/>
                </a:solidFill>
              </a:rPr>
              <a:t>Cinto ESP32 — no campo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49057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Feedback imediato e tátil no posto: </a:t>
            </a:r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</a:rPr>
              <a:t>OLED + LED + buzzer + vibração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. O operador se corrige sozinho, sem depender de tela — inclui quem usa protetor auricular.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2148840"/>
            <a:ext cx="5362956" cy="27432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6505956" y="233172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1E3"/>
                </a:solidFill>
              </a:rPr>
              <a:t>Dashboard SSMA — gestão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05956" y="2834640"/>
            <a:ext cx="49057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Visão consolidada: ocorrências, severidade, histórico por área e turno, e o </a:t>
            </a:r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</a:rPr>
              <a:t>ranking preditivo de risco</a:t>
            </a:r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. Modo claro/escuro para os 3 turnos.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230368"/>
            <a:ext cx="146304" cy="146304"/>
          </a:xfrm>
          <a:prstGeom prst="ellipse">
            <a:avLst/>
          </a:prstGeom>
          <a:solidFill>
            <a:srgbClr val="FF3B30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512064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B30"/>
                </a:solidFill>
              </a:rPr>
              <a:t>Crítica  </a:t>
            </a:r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</a:rPr>
              <a:t>queda, zona crítica, altura sem cinto — som+visual+push &lt; 1 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45864" y="5230368"/>
            <a:ext cx="146304" cy="146304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65320" y="512064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</a:rPr>
              <a:t>Alta  </a:t>
            </a:r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</a:rPr>
              <a:t>EPI ausente, postura de risco — campo + dashboard &lt; 5 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43088" y="5230368"/>
            <a:ext cx="146304" cy="146304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5" name="Text 13"/>
          <p:cNvSpPr/>
          <p:nvPr/>
        </p:nvSpPr>
        <p:spPr>
          <a:xfrm>
            <a:off x="8162544" y="512064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1E3"/>
                </a:solidFill>
              </a:rPr>
              <a:t>Informativa  </a:t>
            </a:r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</a:rPr>
              <a:t>ergonomia, fadiga — só dashboard, sem interromper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49F"/>
                </a:solidFill>
              </a:rPr>
              <a:t>O DIFERENCIAL · CIÊNCIA DE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Detectar a infração qualquer um faz.
</a:t>
            </a:r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E9C6FF"/>
                </a:solidFill>
              </a:rPr>
              <a:t>Prever quem vai se acidentar é outro jogo.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DB8E6"/>
                </a:solidFill>
              </a:rPr>
              <a:t>Distribuição de Poisson  ·  Teorema do Limite Central  ·  Teste de hipóteses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B2FF7"/>
                </a:solidFill>
              </a:rPr>
              <a:t>O DIFERENCIAL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Poisson, passo a passo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3172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</a:rPr>
              <a:t>1 · Modelo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752344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Eventos de segurança são contagens raras e independentes → Poisson. Taxa do operador:  λ̂ = eventos ÷ turnos.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1636" y="214884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6460236" y="233172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</a:rPr>
              <a:t>2 · Predição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0236" y="2752344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Probabilidade de ≥ 1 incidente no próximo turno:   P = 1 − e^(−λ̂).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3192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</a:rPr>
              <a:t>3 · Incerteza (TLC)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352544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Intervalo de confiança de 95%:   λ̂ ± 1,96 · √(λ̂ ÷ t).  Mostramos uma faixa, não um número cravado.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1636" y="374904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3EE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393192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2FF7"/>
                </a:solidFill>
              </a:rPr>
              <a:t>4 · Validação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0236" y="4352544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Teste de hipóteses  H₀: λ = λ₀  (base do grupo).  Se p &lt; 0,05, o operador está acima da média por sinal, não por acaso.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</a:rPr>
              <a:t>Sem dependências pesadas — Poisson e Normal implementados na mão. Identidade anonimizada (LGPD).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B2FF7"/>
                </a:solidFill>
              </a:rPr>
              <a:t>O DIFERENCIAL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Sinal, não ruído: quem precisa de treino dirigido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103120"/>
          <a:ext cx="67665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103120"/>
            <a:ext cx="3959352" cy="3291840"/>
          </a:xfrm>
          <a:prstGeom prst="roundRect">
            <a:avLst>
              <a:gd name="adj" fmla="val 2500"/>
            </a:avLst>
          </a:prstGeom>
          <a:solidFill>
            <a:srgbClr val="F3EEFB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228600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7"/>
                </a:solidFill>
              </a:rPr>
              <a:t>Leitura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09560" y="2697480"/>
            <a:ext cx="3456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</a:rPr>
              <a:t>λ₀ do grupo ≈ 0,45 ev/turno.
</a:t>
            </a:r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</a:rPr>
              <a:t>OP-007</a:t>
            </a:r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</a:rPr>
              <a:t> e </a:t>
            </a:r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</a:rPr>
              <a:t>OP-009</a:t>
            </a:r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</a:rPr>
              <a:t> são significativos (p &lt; 0,05) → </a:t>
            </a:r>
            <a:pPr indent="0" marL="0">
              <a:buNone/>
            </a:pPr>
            <a:r>
              <a:rPr lang="en-US" sz="1350" b="1" dirty="0">
                <a:solidFill>
                  <a:srgbClr val="7B2FF7"/>
                </a:solidFill>
              </a:rPr>
              <a:t>treinamento dirigido preventivo</a:t>
            </a:r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</a:rPr>
              <a:t>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</a:rPr>
              <a:t>Os demais ficam dentro da variação esperada — não são penalizados.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3"/>
                </a:solidFill>
              </a:rPr>
              <a:t>O gestor age sobre sinal, de forma pedagógica — não sobre ruído, de forma punitiva.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B2FF7"/>
                </a:solidFill>
              </a:rPr>
              <a:t>DIFERENCIAL APLICADO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por área — sugestão da IA, decisão do gestor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71750" cy="2011680"/>
          </a:xfrm>
          <a:prstGeom prst="roundRect">
            <a:avLst>
              <a:gd name="adj" fmla="val 4091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</a:rPr>
              <a:t>Prensa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FF3B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Alto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</a:rPr>
              <a:t>2,39× a base · p&lt;0,05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21558" y="2194560"/>
            <a:ext cx="2571750" cy="2011680"/>
          </a:xfrm>
          <a:prstGeom prst="roundRect">
            <a:avLst>
              <a:gd name="adj" fmla="val 4091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3504438" y="237744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</a:rPr>
              <a:t>Pintura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04438" y="288036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FF9500"/>
          </a:solidFill>
          <a:ln/>
        </p:spPr>
      </p:sp>
      <p:sp>
        <p:nvSpPr>
          <p:cNvPr id="12" name="Text 10"/>
          <p:cNvSpPr/>
          <p:nvPr/>
        </p:nvSpPr>
        <p:spPr>
          <a:xfrm>
            <a:off x="3504438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Médio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04438" y="342900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</a:rPr>
              <a:t>1,19× a 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4476" y="2194560"/>
            <a:ext cx="2571750" cy="2011680"/>
          </a:xfrm>
          <a:prstGeom prst="roundRect">
            <a:avLst>
              <a:gd name="adj" fmla="val 4091"/>
            </a:avLst>
          </a:pr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277356" y="237744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</a:rPr>
              <a:t>Solda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77356" y="288036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34C759"/>
          </a:solidFill>
          <a:ln/>
        </p:spPr>
      </p:sp>
      <p:sp>
        <p:nvSpPr>
          <p:cNvPr id="17" name="Text 15"/>
          <p:cNvSpPr/>
          <p:nvPr/>
        </p:nvSpPr>
        <p:spPr>
          <a:xfrm>
            <a:off x="6277356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Baixo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77356" y="342900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</a:rPr>
              <a:t>0,41× a 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7394" y="2194560"/>
            <a:ext cx="2571750" cy="2011680"/>
          </a:xfrm>
          <a:prstGeom prst="roundRect">
            <a:avLst>
              <a:gd name="adj" fmla="val 4091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9050274" y="237744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</a:rPr>
              <a:t>Expedição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050274" y="288036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34C759"/>
          </a:solidFill>
          <a:ln/>
        </p:spPr>
      </p:sp>
      <p:sp>
        <p:nvSpPr>
          <p:cNvPr id="22" name="Text 20"/>
          <p:cNvSpPr/>
          <p:nvPr/>
        </p:nvSpPr>
        <p:spPr>
          <a:xfrm>
            <a:off x="9050274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Baixo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50274" y="342900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</a:rPr>
              <a:t>0,67× a 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Mesma matemática (Poisson agregado por área) gera a </a:t>
            </a:r>
            <a:pPr indent="0" marL="0">
              <a:buNone/>
            </a:pPr>
            <a:r>
              <a:rPr lang="en-US" sz="1500" b="1" dirty="0">
                <a:solidFill>
                  <a:srgbClr val="7B2FF7"/>
                </a:solidFill>
              </a:rPr>
              <a:t>sugestão da IA</a:t>
            </a:r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. A classificação final é sempre do gestor — aceitar ou sobrepor.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</a:rPr>
              <a:t>ESTÍMULOS OUT OF THE 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positiva + feedback educativo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68624" cy="2834640"/>
          </a:xfrm>
          <a:prstGeom prst="roundRect">
            <a:avLst>
              <a:gd name="adj" fmla="val 2903"/>
            </a:avLst>
          </a:prstGeom>
          <a:solidFill>
            <a:srgbClr val="F5F5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Gamificação positiva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3148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Placar que premia conformidade e sequências limpas (streaks, selos). Celebra o acerto — nunca ranqueia quem mais infringe.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5864" y="2194560"/>
            <a:ext cx="3468624" cy="2834640"/>
          </a:xfrm>
          <a:prstGeom prst="roundRect">
            <a:avLst>
              <a:gd name="adj" fmla="val 2903"/>
            </a:avLst>
          </a:prstGeom>
          <a:solidFill>
            <a:srgbClr val="F5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74464" y="2423160"/>
            <a:ext cx="457200" cy="4572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4474464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4464" y="306324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Feedback educativo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74464" y="3520440"/>
            <a:ext cx="3148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Para cada operador, a micro-orientação ancorada na NR do seu ponto fraco dominante — o "treino dirigido" com conteúdo concreto.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3088" y="2194560"/>
            <a:ext cx="3468624" cy="2834640"/>
          </a:xfrm>
          <a:prstGeom prst="roundRect">
            <a:avLst>
              <a:gd name="adj" fmla="val 2903"/>
            </a:avLst>
          </a:prstGeom>
          <a:solidFill>
            <a:srgbClr val="F5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171688" y="2423160"/>
            <a:ext cx="457200" cy="45720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6" name="Text 14"/>
          <p:cNvSpPr/>
          <p:nvPr/>
        </p:nvSpPr>
        <p:spPr>
          <a:xfrm>
            <a:off x="817168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71688" y="306324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</a:rPr>
              <a:t>Wearable que vibra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71688" y="3520440"/>
            <a:ext cx="3148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</a:rPr>
              <a:t>O próprio cinto ESP32 alerta por vibração e som no posto — o padrão que evita o alerta chegar a virar incidente.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</a:rPr>
              <a:t>FASE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o chão de fábrica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6771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</a:rPr>
              <a:t>Roda em qualquer ambiente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70048"/>
            <a:ext cx="3148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Câmera IP RTSP, device automático (CUDA/Metal/CPU), modo headless e um doctor de compatibilidade.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210312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4520184" y="226771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</a:rPr>
              <a:t>Múltiplos pontos de visão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0184" y="2670048"/>
            <a:ext cx="3148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Fusão de câmeras por estação: união dos ângulos resolve oclusão (capacete oculto em A, visível em B).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210312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308848" y="226771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</a:rPr>
              <a:t>Robustez a iluminação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08848" y="2670048"/>
            <a:ext cx="3148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Pré-processamento adaptativo (CLAHE + gama) para baixo e alto contraste, calibrável por câmera.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6791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</a:rPr>
              <a:t>Auditabilidade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70248"/>
            <a:ext cx="3148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Trilha imutável encadeada por hash (tamper-evident) + exportação assinada por operador/turno.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4520184" y="386791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</a:rPr>
              <a:t>Energia do cinto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0184" y="4270248"/>
            <a:ext cx="3148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Modem-sleep mantém o push &lt; 1 s e faz 1–2 pilhas AA durarem o turno de 8 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386791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1E3"/>
                </a:solidFill>
              </a:rPr>
              <a:t>Replicável em ≤ 1 dia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4270248"/>
            <a:ext cx="3148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Instala sobre a câmera IP existente, sem CAPEX de hardware novo.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</a:rPr>
              <a:t>ADERÊNCIA AO DESCRITIVO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— sem maquiagem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075688"/>
            <a:ext cx="274320" cy="27432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</a:rPr>
              <a:t>Fase 1  —  </a:t>
            </a:r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</a:rPr>
              <a:t>escopo obrigatório atendido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42616"/>
            <a:ext cx="274320" cy="27432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6243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</a:rPr>
              <a:t>Fase 2  —  </a:t>
            </a:r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</a:rPr>
              <a:t>completa + todos os estímulos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274320" cy="27432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19125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</a:rPr>
              <a:t>Fase 3  —  </a:t>
            </a:r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</a:rPr>
              <a:t>2 canais, severidade, UX educativa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76472"/>
            <a:ext cx="274320" cy="27432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75818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</a:rPr>
              <a:t>Fase 4  —  </a:t>
            </a:r>
            <a:pPr indent="0" marL="0">
              <a:buNone/>
            </a:pPr>
            <a:r>
              <a:rPr lang="en-US" sz="1450" dirty="0">
                <a:solidFill>
                  <a:srgbClr val="6E6E73"/>
                </a:solidFill>
              </a:rPr>
              <a:t>integração, robustez, auditoria, fusão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06640" y="2011680"/>
            <a:ext cx="4233672" cy="3017520"/>
          </a:xfrm>
          <a:prstGeom prst="roundRect">
            <a:avLst>
              <a:gd name="adj" fmla="val 2727"/>
            </a:avLst>
          </a:prstGeom>
          <a:solidFill>
            <a:srgbClr val="FFF6EC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219456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6B00"/>
                </a:solidFill>
              </a:rPr>
              <a:t>A caminho (honestidade)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35240" y="2606040"/>
            <a:ext cx="38679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</a:rPr>
              <a:t>• Dataset próprio da SPI</a:t>
            </a:r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 — fotos da visita técnica entram esta semana (público SH17 + nosso).
</a:t>
            </a:r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</a:rPr>
              <a:t>• "Uso incorreto"</a:t>
            </a:r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 (óculos na testa, colete na cintura) — fechar rotulando esses casos no dataset SPI.
</a:t>
            </a:r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</a:rPr>
              <a:t>• Entrega final</a:t>
            </a:r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 — sumário executivo + vídeo de 90 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73"/>
                </a:solidFill>
              </a:rPr>
              <a:t>Robustez sobre exibicionismo: preferimos dizer o que falta a inflar o que temos.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demonstração ao vivo (~10 min)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run_selftest.bat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0" y="198424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</a:rPr>
              <a:t>Backend inteiro sadio: 15/15 PASS, sem câmera nem GPU.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670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run_dashboard.bat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0" y="2642616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</a:rPr>
              <a:t>Abrir localhost:5005 — risco preditivo (Poisson), risco por área, gamificação, feedback, modo escuro; passar por /config e /checkin.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384048" cy="38404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3284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run_demo.bat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31920" y="3300984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</a:rPr>
              <a:t>Ficar sem capacete diante da webcam → alerta + selo "ENVIADO AO DASHBOARD" → ver a ocorrência real entrar.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384048" cy="38404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986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run_checkin.bat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931920" y="3959352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</a:rPr>
              <a:t>QR no celular → trocar o operador ativo do cinto → os EPIs monitorados mudam.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45152"/>
            <a:ext cx="384048" cy="38404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6451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run_audit.bat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931920" y="4617720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</a:rPr>
              <a:t>Gera a trilha de auditoria assinada (CSV + HTML) — abre no navegador.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rgbClr val="0071E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5303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run_doctor.bat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931920" y="5276088"/>
            <a:ext cx="7708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73"/>
                </a:solidFill>
              </a:rPr>
              <a:t>Diagnóstico de compatibilidade: device, modelos, câmera — prova que roda em qualquer PC.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71E3"/>
                </a:solidFill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enfatizar na fala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8600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</a:rPr>
              <a:t>O diferencial é estatístico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670048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1D1F"/>
                </a:solidFill>
              </a:rPr>
              <a:t>"Não contamos violações — modelamos a taxa de cada operador com Poisson e prevemos quem vai se acidentar, validado por teste de hipóteses."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31636" y="210312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6460236" y="228600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</a:rPr>
              <a:t>Prever, não punir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0236" y="2670048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1D1F"/>
                </a:solidFill>
              </a:rPr>
              <a:t>"O dashboard celebra conformidade e sugere treino dirigido — nunca ranqueia quem mais infringe. Identidade anonimizada."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8620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</a:rPr>
              <a:t>Um produto, quatro fases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270248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1D1F"/>
                </a:solidFill>
              </a:rPr>
              <a:t>"É a mesma pilha do detector à decisão. A Fase 4 integra tudo, roda na câmera IP e é auditável."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1636" y="3703320"/>
            <a:ext cx="5408676" cy="1417320"/>
          </a:xfrm>
          <a:prstGeom prst="roundRect">
            <a:avLst>
              <a:gd name="adj" fmla="val 5806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388620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1E3"/>
                </a:solidFill>
              </a:rPr>
              <a:t>Honestidade técnica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0236" y="4270248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1D1F"/>
                </a:solidFill>
              </a:rPr>
              <a:t>"O que falta — dataset da SPI e o 'uso incorreto' — está mapeado. Robustez sobre exibicionismo."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Da detecção à prevenção.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7C7CC"/>
                </a:solidFill>
              </a:rPr>
              <a:t>Tortuga — a câmera que a planta já tem, agora prevê o acidente antes do incidente.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E6E73"/>
                </a:solidFill>
              </a:rPr>
              <a:t>Projeto Tortuga  ·  FIAP × SPI  ·  Innovation Challenge CUP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2026-08-10T21:19:25Z</dcterms:created>
  <dcterms:modified xsi:type="dcterms:W3CDTF">2026-08-10T21:19:25Z</dcterms:modified>
</cp:coreProperties>
</file>