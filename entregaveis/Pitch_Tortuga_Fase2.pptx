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044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(0:00–0:30). Frase de impacto + identificação. 'Somos o grupo Tortuga. Na Fase 1 o sistema passou a enxergar QUAIS EPIs o trabalhador usa. Na Fase 2 ele passa a entender COMO ele se move e onde — e a prever o risco antes do acidente.' Apresentar os 3 diferenciais do canto.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SOLUÇÃO 1 (0:30–1:00). Explicar a evolução: a banca valoriza produto único e coerente. Fase 1 = o que veste; Fase 2 = como se move e onde. Mesmo stream, mesma família de modelos (YOLOv8). Frase: 'não trocamos de arquitetura a cada fase — empilhamos capacidade'.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SOLUÇÃO 2 (1:00–1:30). Mostrar o diagrama: 1 captura → 2a EPI e 2b Pose em PARALELO → 3 engine cruza tudo → 4 alerta por pessoa. Frase-chave: a fusão é na camada de decisão, não no modelo — cada pipeline evolui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(1:30–3:30) — a parte mais importante. Rodar AO VIVO os 3 cenários (ou vídeo de backup com legenda). Cenário 1 conformidade; cenário 2 tirar o capacete -&gt; 'SEM: Capacete' por pessoa; cenário 3 inclinar o tronco -&gt; RISCO + predição de queda. Dizer os números reais ao vivo. Lembrar: em segurança, recall &gt; precision no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 OF THE BOX (3:30–4:30). Destacar 2-3 itens com mais força: RULA/REBA automatizado (a banca valoriza), predição de queda, e ausência por pessoa sem precisar de classe NO-X. Mencionar a engenharia honesta: achamos e corrigimos uma regressão causada por contaminação de dataset, e blindamos o pipeline. Cada integrante fala um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PRÓXIMOS PASSOS (4:30–5:00). Plano Fase 3 (notificação/severidade) e Fase 4 (Metaindústria/câmera IP). Citar riscos e mitigação (mostra maturidade). ASK explícito: pedir orientação sobre severidade e canais. Fechar com a frase final. Garantir que TODOS os integrantes falaram ao longo do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7B0BE"/>
                </a:solidFill>
                <a:latin typeface="Arial"/>
              </a:rPr>
              <a:t>PPE Safety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8FAFC"/>
                </a:solidFill>
                <a:latin typeface="Arial"/>
              </a:rPr>
              <a:t>Fase 2 — Pose Estimation e
Análise Comportamental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2D3EE"/>
                </a:solidFill>
                <a:latin typeface="Arial"/>
              </a:rPr>
              <a:t>“Não basta detectar a infração: prever o risco antes da queda.”</a:t>
            </a:r>
          </a:p>
        </p:txBody>
      </p:sp>
      <p:sp>
        <p:nvSpPr>
          <p:cNvPr id="8" name="Oval 7"/>
          <p:cNvSpPr/>
          <p:nvPr/>
        </p:nvSpPr>
        <p:spPr>
          <a:xfrm>
            <a:off x="704088" y="4242816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8FAFC"/>
                </a:solidFill>
                <a:latin typeface="Arial"/>
              </a:rPr>
              <a:t>Pose 17 keypoints + scores ergonômicos RULA/REBA (NR-17)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4718303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7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8FAFC"/>
                </a:solidFill>
                <a:latin typeface="Arial"/>
              </a:rPr>
              <a:t>Predição de queda 0,5–1,5 s antes do impacto (NR-35)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5193791"/>
            <a:ext cx="146304" cy="146304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157215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8FAFC"/>
                </a:solidFill>
                <a:latin typeface="Arial"/>
              </a:rPr>
              <a:t>Ausência de EPI por pessoa: capacete, colete, óculos, bota, protetor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2697480" cy="4572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08990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7B0BE"/>
                </a:solidFill>
                <a:latin typeface="Arial"/>
              </a:rPr>
              <a:t>SPI Integração de Sistemas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989320"/>
            <a:ext cx="1554480" cy="457200"/>
          </a:xfrm>
          <a:prstGeom prst="round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60899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206"/>
                </a:solidFill>
                <a:latin typeface="Arial"/>
              </a:rPr>
              <a:t>Banca 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65506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7210F"/>
                </a:solidFill>
                <a:latin typeface="Arial"/>
              </a:rPr>
              <a:t>RULA 2 / 7</a:t>
            </a: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A380C73A-8AE5-B71E-4FBB-06B200FC2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2316480"/>
            <a:ext cx="3429000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rial"/>
              </a:rPr>
              <a:t>De “o que veste” para “como se move”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7B0BE"/>
                </a:solidFill>
                <a:latin typeface="Arial"/>
              </a:rPr>
              <a:t>A Fase 2 amplia a percepção do sistema sem trocar de pilha: é o mesmo produto, evoluindo.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Banca Fase 2  • 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29000" cy="310896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66544"/>
            <a:ext cx="45720" cy="2816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848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FASE 1 — EPI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68880"/>
            <a:ext cx="304495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7B0BE"/>
                </a:solidFill>
                <a:latin typeface="Arial"/>
              </a:rPr>
              <a:t>Detecta capacete, colete, óculos, máscara, bota e protetor. Distingue presente × ausente.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89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4155"/>
                </a:solidFill>
                <a:latin typeface="Arial"/>
              </a:rPr>
              <a:t>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87952" y="3401568"/>
            <a:ext cx="274320" cy="14630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1920240"/>
            <a:ext cx="3429000" cy="310896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2066544"/>
            <a:ext cx="45720" cy="28163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20848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FASE 2 — 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468880"/>
            <a:ext cx="304495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7B0BE"/>
                </a:solidFill>
                <a:latin typeface="Arial"/>
              </a:rPr>
              <a:t>17 keypoints (COCO). Classifica postura ergonômica, queda/risco imediato e zona crítica. RULA/REBA por pessoa.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89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4155"/>
                </a:solidFill>
                <a:latin typeface="Arial"/>
              </a:rPr>
              <a:t>02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19872" y="3401568"/>
            <a:ext cx="274320" cy="14630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19" y="1920240"/>
            <a:ext cx="3429000" cy="310896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19" y="2066544"/>
            <a:ext cx="45720" cy="281635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05088" y="20848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Arial"/>
              </a:rPr>
              <a:t>PRODUTO ÚNICO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468880"/>
            <a:ext cx="304495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7B0BE"/>
                </a:solidFill>
                <a:latin typeface="Arial"/>
              </a:rPr>
              <a:t>EPI e pose rodam sobre o MESMO stream, em paralelo. A fusão acontece na camada de decisão.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4389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4155"/>
                </a:solidFill>
                <a:latin typeface="Arial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40680"/>
            <a:ext cx="10908792" cy="8686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45720" cy="59436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5961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8A00"/>
                </a:solidFill>
                <a:latin typeface="Arial"/>
              </a:rPr>
              <a:t>Coerência arquitetural é critério de avaliação.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7B0BE"/>
                </a:solidFill>
                <a:latin typeface="Arial"/>
              </a:rPr>
              <a:t>Nada foi reescrito entre fases — a Fase 2 é uma camada nova sobre o mesmo pipeline da Fase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rial"/>
              </a:rPr>
              <a:t>Arquitetura integrada: EPI + 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7B0BE"/>
                </a:solidFill>
                <a:latin typeface="Arial"/>
              </a:rPr>
              <a:t>Câmera → visão (EPI + Pose em paralelo) → engine de decisão → alerta por pessoa.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Banca Fase 2  • 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2286000" cy="91440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072384"/>
            <a:ext cx="45720" cy="6217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0906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1. Captura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7472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Webcam ou câmera IP (RTSP/ONVIF)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2286000" cy="91440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2203704"/>
            <a:ext cx="45720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2219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2a. YOLOv8 — EPI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6060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Capacete, colete, óculos, bota, protetor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794760"/>
            <a:ext cx="2286000" cy="91440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9000" y="3941064"/>
            <a:ext cx="45720" cy="6217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395935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2b. YOLOv8-Pose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34340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17 keypoints corporais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2423160" cy="105156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72384"/>
            <a:ext cx="45720" cy="758951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09067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3. Engine de decisão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74720"/>
            <a:ext cx="2039112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RULA/REBA + regras NR-17/35 + ausência de EPI por pessoa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926080"/>
            <a:ext cx="2103120" cy="91440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3072384"/>
            <a:ext cx="45720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45168" y="3090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4. Alerta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474720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Verde / vermelho, por operador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017520" y="3337560"/>
            <a:ext cx="320040" cy="14630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5806440" y="3337560"/>
            <a:ext cx="320040" cy="146304"/>
          </a:xfrm>
          <a:prstGeom prst="rightArrow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8750808" y="3337560"/>
            <a:ext cx="365760" cy="146304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486400"/>
            <a:ext cx="10908792" cy="82296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605272"/>
            <a:ext cx="45720" cy="5852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6509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D3EE"/>
                </a:solidFill>
                <a:latin typeface="Arial"/>
              </a:rPr>
              <a:t>Decisão fundida, não no modelo: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7B0BE"/>
                </a:solidFill>
                <a:latin typeface="Arial"/>
              </a:rPr>
              <a:t>os dois pipelines são independentes e a engine cruza presença de EPI, postura e zona — robusto e barato.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rial"/>
              </a:rPr>
              <a:t>O que a banca vai ver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8778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sz="1300" b="0" i="0" dirty="0">
              <a:solidFill>
                <a:srgbClr val="A7B0B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Banca Fase 2  • 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456432" cy="22402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12264"/>
            <a:ext cx="45720" cy="194767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130552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1 · Conformidade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14600"/>
            <a:ext cx="30723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BE"/>
                </a:solidFill>
                <a:latin typeface="Arial"/>
              </a:rPr>
              <a:t>Operador com EPI e postura OK → AREA SEGURA. Esqueleto verde, RULA/REBA baixos.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965960"/>
            <a:ext cx="3456432" cy="22402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53712" y="2112264"/>
            <a:ext cx="45720" cy="194767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2130552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2 · EPI ausente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514600"/>
            <a:ext cx="30723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BE"/>
                </a:solidFill>
                <a:latin typeface="Arial"/>
              </a:rPr>
              <a:t>Operador sem capacete → caixa vermelha e “SEM: Capacete”. Atribuição por pessoa (multi-pessoa).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3" y="1965960"/>
            <a:ext cx="3456432" cy="22402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67343" y="2112264"/>
            <a:ext cx="45720" cy="194767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68511" y="2130552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3 · Risco de postura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514600"/>
            <a:ext cx="30723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BE"/>
                </a:solidFill>
                <a:latin typeface="Arial"/>
              </a:rPr>
              <a:t>Tronco fletido / queda simulada → RISCO IMEDIATO e predição de queda antes do impacto.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10908792" cy="914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27271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2D3EE"/>
                </a:solidFill>
                <a:latin typeface="Arial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27271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keypoints COCO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7278" y="4663440"/>
            <a:ext cx="27271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2C55E"/>
                </a:solidFill>
                <a:latin typeface="Arial"/>
              </a:rPr>
              <a:t>RULA/REBA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7278" y="5138928"/>
            <a:ext cx="27271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score por pessoa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4663440"/>
            <a:ext cx="27271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8A00"/>
                </a:solidFill>
                <a:latin typeface="Arial"/>
              </a:rPr>
              <a:t>0,5–1,5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5138928"/>
            <a:ext cx="27271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antecedência de queda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1674" y="4663440"/>
            <a:ext cx="27271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8FAFC"/>
                </a:solidFill>
                <a:latin typeface="Arial"/>
              </a:rPr>
              <a:t>multi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1674" y="5138928"/>
            <a:ext cx="27271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pessoas em cena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235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Arial"/>
              </a:rPr>
              <a:t>Métrica honesta: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7B0BE"/>
                </a:solidFill>
                <a:latin typeface="Arial"/>
              </a:rPr>
              <a:t>o modelo de pose é COCO pré-treinado (generaliza para a sala). PCK, acurácia postural e latência serão medidos na máquina da demo e reportados na arguição — dados, não opinião.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rial"/>
              </a:rPr>
              <a:t>O que diferencia o Tortuga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7B0BE"/>
                </a:solidFill>
                <a:latin typeface="Arial"/>
              </a:rPr>
              <a:t>Não-óbvio: o que qualquer time NÃO faria por padrão.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Banca Fase 2  • 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7823" y="22311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212848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RULA / REBA automatizado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Coordenadas viram score ergonômico (NR-17). Índice por operador/turno para o SSMA.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965960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91455" y="2231136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212848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Predição de queda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43200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Velocidade angular do tronco antecipa a queda 0,5–1,5 s antes (NR-35).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3" y="1965960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05087" y="2231136"/>
            <a:ext cx="292608" cy="292608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07423" y="2212848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Ausência sem classe “NO-X”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3" y="2743200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Inferida na decisão e atribuída por pessoa — funciona p/ os 5 EPIs de uma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79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3" y="4334255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4315967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Filtro anatômico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19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Não confunde avaliador, manequim ou máquina com trabalhador. Pensado para a Fase 4.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4069079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91455" y="4334255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4315967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Fadiga &amp; multi-pessoa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846319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Tendência de RULA por sessão e distância segura entre operadores.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67343" y="4069079"/>
            <a:ext cx="3456432" cy="17830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05087" y="4334255"/>
            <a:ext cx="292608" cy="292608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07423" y="4315967"/>
            <a:ext cx="26791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8FAFC"/>
                </a:solidFill>
                <a:latin typeface="Arial"/>
              </a:rPr>
              <a:t>Engenharia honesta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5943" y="4846319"/>
            <a:ext cx="304495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7B0BE"/>
                </a:solidFill>
                <a:latin typeface="Arial"/>
              </a:rPr>
              <a:t>Diagnosticamos e corrigimos uma regressão de dataset — com guarda anti-erro no treino.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Arial"/>
              </a:rPr>
              <a:t>Próximos passos e o que pedimos à banca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7B0BE"/>
                </a:solidFill>
                <a:latin typeface="Arial"/>
              </a:rPr>
              <a:t>Plano para a Fase 3, riscos mapeados e um ask objetivo.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8A00"/>
                </a:solidFill>
                <a:latin typeface="Arial"/>
              </a:rPr>
              <a:t>TORTUGA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Banca Fase 2  • 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20116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12264"/>
            <a:ext cx="45720" cy="17190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13055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Fase 3 — Notificação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14600"/>
            <a:ext cx="4965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BE"/>
                </a:solidFill>
                <a:latin typeface="Arial"/>
              </a:rPr>
              <a:t>Dois canais (sonoro/visual no campo + dashboard/push à gestão), política de severidade em 3 níveis (crítica &lt; 1 s, alta &lt; 5 s, informativa) e linguagem educativa, não punitiva.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49240" cy="2011680"/>
          </a:xfrm>
          <a:prstGeom prst="roundRect">
            <a:avLst/>
          </a:prstGeom>
          <a:solidFill>
            <a:srgbClr val="151B24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112264"/>
            <a:ext cx="45720" cy="171907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3055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Fase 4 — Metaindústria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514600"/>
            <a:ext cx="4965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BE"/>
                </a:solidFill>
                <a:latin typeface="Arial"/>
              </a:rPr>
              <a:t>Rodar na câmera IP do ambiente simulado, robustez a iluminação e múltiplas pessoas, latência E2E e estabilidade ≥ 30 min. Plano de execução em 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5349240" cy="13258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63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325112"/>
            <a:ext cx="45720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3159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F4444"/>
                </a:solidFill>
                <a:latin typeface="Arial"/>
              </a:rPr>
              <a:t>Riscos mapeados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7B0BE"/>
                </a:solidFill>
                <a:latin typeface="Arial"/>
              </a:rPr>
              <a:t>• Gap de domínio (sala ≠ obra) → mitigado com dados próprios rotulados.
• Latência em multi-pessoa → ajuste de resolução de inferência.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206240"/>
            <a:ext cx="5349240" cy="1325880"/>
          </a:xfrm>
          <a:prstGeom prst="roundRect">
            <a:avLst/>
          </a:prstGeom>
          <a:solidFill>
            <a:srgbClr val="151B24"/>
          </a:solidFill>
          <a:ln w="15875">
            <a:solidFill>
              <a:srgbClr val="F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325112"/>
            <a:ext cx="45720" cy="109728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8A00"/>
                </a:solidFill>
                <a:latin typeface="Arial"/>
              </a:rPr>
              <a:t>Nosso ask à banca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81728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8FAFC"/>
                </a:solidFill>
                <a:latin typeface="Arial"/>
              </a:rPr>
              <a:t>Validar a política de severidade e os canais prioritários (sonoro? visual? push?) para o ambiente real da SPI na Fase 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15000"/>
            <a:ext cx="10908792" cy="566928"/>
          </a:xfrm>
          <a:prstGeom prst="round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824728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206"/>
                </a:solidFill>
                <a:latin typeface="Arial"/>
              </a:rPr>
              <a:t>Da detecção à prevenção: o Tortuga já enxerga o EPI, entende a postura e antecipa o risco.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1155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Celso Fernando</cp:lastModifiedBy>
  <cp:revision>3</cp:revision>
  <dcterms:created xsi:type="dcterms:W3CDTF">2013-01-27T09:14:16Z</dcterms:created>
  <dcterms:modified xsi:type="dcterms:W3CDTF">2026-06-22T20:13:45Z</dcterms:modified>
  <cp:category/>
</cp:coreProperties>
</file>