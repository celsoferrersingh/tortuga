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27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044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HOOK (0:00–0:30). Frase de </a:t>
            </a:r>
            <a:r>
              <a:rPr dirty="0" err="1"/>
              <a:t>impacto</a:t>
            </a:r>
            <a:r>
              <a:rPr dirty="0"/>
              <a:t> + </a:t>
            </a:r>
            <a:r>
              <a:rPr dirty="0" err="1"/>
              <a:t>identificação</a:t>
            </a:r>
            <a:r>
              <a:rPr dirty="0"/>
              <a:t>. 'Somos o </a:t>
            </a:r>
            <a:r>
              <a:rPr dirty="0" err="1"/>
              <a:t>grupo</a:t>
            </a:r>
            <a:r>
              <a:rPr dirty="0"/>
              <a:t> Tortuga. Na Fase 1 o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passou</a:t>
            </a:r>
            <a:r>
              <a:rPr dirty="0"/>
              <a:t> a </a:t>
            </a:r>
            <a:r>
              <a:rPr dirty="0" err="1"/>
              <a:t>enxergar</a:t>
            </a:r>
            <a:r>
              <a:rPr dirty="0"/>
              <a:t> QUAIS EPIs o </a:t>
            </a:r>
            <a:r>
              <a:rPr dirty="0" err="1"/>
              <a:t>trabalhador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. Na Fase 2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a </a:t>
            </a:r>
            <a:r>
              <a:rPr dirty="0" err="1"/>
              <a:t>entender</a:t>
            </a:r>
            <a:r>
              <a:rPr dirty="0"/>
              <a:t> COMO </a:t>
            </a:r>
            <a:r>
              <a:rPr dirty="0" err="1"/>
              <a:t>ele</a:t>
            </a:r>
            <a:r>
              <a:rPr dirty="0"/>
              <a:t> se move e </a:t>
            </a:r>
            <a:r>
              <a:rPr dirty="0" err="1"/>
              <a:t>onde</a:t>
            </a:r>
            <a:r>
              <a:rPr dirty="0"/>
              <a:t> — e a </a:t>
            </a:r>
            <a:r>
              <a:rPr dirty="0" err="1"/>
              <a:t>prever</a:t>
            </a:r>
            <a:r>
              <a:rPr dirty="0"/>
              <a:t> o </a:t>
            </a:r>
            <a:r>
              <a:rPr dirty="0" err="1"/>
              <a:t>risco</a:t>
            </a:r>
            <a:r>
              <a:rPr dirty="0"/>
              <a:t> antes do </a:t>
            </a:r>
            <a:r>
              <a:rPr dirty="0" err="1"/>
              <a:t>acidente</a:t>
            </a:r>
            <a:r>
              <a:rPr dirty="0"/>
              <a:t>.' </a:t>
            </a:r>
            <a:r>
              <a:rPr dirty="0" err="1"/>
              <a:t>Apresentar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3 </a:t>
            </a:r>
            <a:r>
              <a:rPr dirty="0" err="1"/>
              <a:t>diferenciais</a:t>
            </a:r>
            <a:r>
              <a:rPr dirty="0"/>
              <a:t> do canto.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SOLUÇÃO 1 (0:30–1:00). Explicar a evolução: a banca valoriza produto único e coerente. Fase 1 = o que veste; Fase 2 = como se move e onde. Mesmo stream, mesma família de modelos (YOLOv8). Frase: 'não trocamos de arquitetura a cada fase — empilhamos capacidade'.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SOLUÇÃO 2 (1:00–1:30). Mostrar o diagrama: 1 captura → 2a EPI e 2b Pose em PARALELO → 3 engine cruza tudo → 4 alerta por pessoa. Frase-chave: a fusão é na camada de decisão, não no modelo — cada pipeline evolui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(1:30–3:30) — a parte mais importante. Rodar AO VIVO os 3 cenários (ou vídeo de backup com legenda). Cenário 1 conformidade; cenário 2 tirar o capacete -&gt; 'SEM: Capacete' por pessoa; cenário 3 inclinar o tronco -&gt; RISCO + predição de queda. Dizer os números reais ao vivo. Lembrar: em segurança, recall &gt; precision no risco.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OUT OF THE BOX (3:30–4:30). Destacar 2-3 itens com mais força: RULA/REBA automatizado (a banca valoriza), predição de queda, e ausência por pessoa sem precisar de classe NO-X. Mencionar a engenharia honesta: achamos e corrigimos uma regressão causada por contaminação de dataset, e blindamos o pipeline. Cada integrante fala um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PRÓXIMOS PASSOS (4:30–5:00). Plano Fase 3 (notificação/severidade) e Fase 4 (Metaindústria/câmera IP). Citar riscos e mitigação (mostra maturidade). ASK explícito: pedir orientação sobre severidade e canais. Fechar com a frase final. Garantir que TODOS os integrantes falaram ao longo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A7B0BE"/>
                </a:solidFill>
                <a:latin typeface="Arial"/>
              </a:rPr>
              <a:t>PPE Safety Monitor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852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8FAFC"/>
                </a:solidFill>
                <a:latin typeface="Arial"/>
              </a:rPr>
              <a:t>Fase 2 — Pose Estimation e
Análise Comportamental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2D3EE"/>
                </a:solidFill>
                <a:latin typeface="Arial"/>
              </a:rPr>
              <a:t>“Não basta detectar a infração: prever o risco antes da queda.”</a:t>
            </a:r>
          </a:p>
        </p:txBody>
      </p:sp>
      <p:sp>
        <p:nvSpPr>
          <p:cNvPr id="8" name="Oval 7"/>
          <p:cNvSpPr/>
          <p:nvPr/>
        </p:nvSpPr>
        <p:spPr>
          <a:xfrm>
            <a:off x="704088" y="4242816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8FAFC"/>
                </a:solidFill>
                <a:latin typeface="Arial"/>
              </a:rPr>
              <a:t>Pose 17 keypoints + scores ergonômicos RULA/REBA (NR-17)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4718303"/>
            <a:ext cx="146304" cy="14630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681727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8FAFC"/>
                </a:solidFill>
                <a:latin typeface="Arial"/>
              </a:rPr>
              <a:t>Predição de queda 0,5–1,5 s antes do impacto (NR-35)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5193791"/>
            <a:ext cx="146304" cy="146304"/>
          </a:xfrm>
          <a:prstGeom prst="ellipse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157215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8FAFC"/>
                </a:solidFill>
                <a:latin typeface="Arial"/>
              </a:rPr>
              <a:t>Ausência de EPI por pessoa: capacete, colete, óculos, bota, protetor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989320"/>
            <a:ext cx="2697480" cy="457200"/>
          </a:xfrm>
          <a:prstGeom prst="roundRect">
            <a:avLst/>
          </a:prstGeom>
          <a:solidFill>
            <a:srgbClr val="1A223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089904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A7B0BE"/>
                </a:solidFill>
                <a:latin typeface="Arial"/>
              </a:rPr>
              <a:t>SPI Integração de Sistemas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989320"/>
            <a:ext cx="1554480" cy="457200"/>
          </a:xfrm>
          <a:prstGeom prst="round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608990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A1206"/>
                </a:solidFill>
                <a:latin typeface="Arial"/>
              </a:rPr>
              <a:t>Banca Fase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1655064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7210F"/>
                </a:solidFill>
                <a:latin typeface="Arial"/>
              </a:rPr>
              <a:t>RULA 2 / 7</a:t>
            </a:r>
          </a:p>
        </p:txBody>
      </p:sp>
      <p:pic>
        <p:nvPicPr>
          <p:cNvPr id="50" name="Imagem 49">
            <a:extLst>
              <a:ext uri="{FF2B5EF4-FFF2-40B4-BE49-F238E27FC236}">
                <a16:creationId xmlns:a16="http://schemas.microsoft.com/office/drawing/2014/main" id="{A380C73A-8AE5-B71E-4FBB-06B200FC2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2316480"/>
            <a:ext cx="3429000" cy="26384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De “o que veste” para “como se move”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7B0BE"/>
                </a:solidFill>
                <a:latin typeface="Arial"/>
              </a:rPr>
              <a:t>A Fase 2 amplia a percepção do sistema sem trocar de pilha: é o mesmo produto, evoluindo.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65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Banca Fase 2  • 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3429000" cy="310896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066544"/>
            <a:ext cx="45720" cy="28163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848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FASE 1 — EPI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68880"/>
            <a:ext cx="3044952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7B0BE"/>
                </a:solidFill>
                <a:latin typeface="Arial"/>
              </a:rPr>
              <a:t>Detecta capacete, colete, óculos, máscara, bota e protetor. Distingue presente × ausente.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3891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34155"/>
                </a:solidFill>
                <a:latin typeface="Arial"/>
              </a:rPr>
              <a:t>01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87952" y="3401568"/>
            <a:ext cx="274320" cy="146304"/>
          </a:xfrm>
          <a:prstGeom prst="right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0" y="1920240"/>
            <a:ext cx="3429000" cy="310896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2066544"/>
            <a:ext cx="45720" cy="28163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73168" y="20848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FASE 2 — 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468880"/>
            <a:ext cx="3044952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7B0BE"/>
                </a:solidFill>
                <a:latin typeface="Arial"/>
              </a:rPr>
              <a:t>17 keypoints (COCO). Classifica postura ergonômica, queda/risco imediato e zona crítica. RULA/REBA por pessoa.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3891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34155"/>
                </a:solidFill>
                <a:latin typeface="Arial"/>
              </a:rPr>
              <a:t>02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19872" y="3401568"/>
            <a:ext cx="274320" cy="146304"/>
          </a:xfrm>
          <a:prstGeom prst="right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03919" y="1920240"/>
            <a:ext cx="3429000" cy="310896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503919" y="2066544"/>
            <a:ext cx="45720" cy="2816352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05088" y="20848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PRODUTO ÚNICO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2468880"/>
            <a:ext cx="3044952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7B0BE"/>
                </a:solidFill>
                <a:latin typeface="Arial"/>
              </a:rPr>
              <a:t>EPI e pose rodam sobre o MESMO stream, em paralelo. A fusão acontece na camada de decisão.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43891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34155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5577840"/>
            <a:ext cx="45720" cy="59436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8A00"/>
                </a:solidFill>
                <a:latin typeface="Arial"/>
              </a:rPr>
              <a:t>Coerência arquitetural é critério de avaliação.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7B0BE"/>
                </a:solidFill>
                <a:latin typeface="Arial"/>
              </a:rPr>
              <a:t>Nada foi reescrito entre fases — a Fase 2 é uma camada nova sobre o mesmo pipeline da Fase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Arquitetura integrada: EPI + 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7B0BE"/>
                </a:solidFill>
                <a:latin typeface="Arial"/>
              </a:rPr>
              <a:t>Câmera → visão (EPI + Pose em paralelo) → engine de decisão → alerta por pessoa.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65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Banca Fase 2  • 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2286000" cy="91440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3072384"/>
            <a:ext cx="45720" cy="6217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309067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8FAFC"/>
                </a:solidFill>
                <a:latin typeface="Arial"/>
              </a:rPr>
              <a:t>1. Captura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74720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Webcam ou câmera IP (RTSP/ONVIF)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057400"/>
            <a:ext cx="2286000" cy="91440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29000" y="2203704"/>
            <a:ext cx="45720" cy="6217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0168" y="222199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2a. YOLOv8 — EPI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606040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Capacete, colete, óculos, bota, protetor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3794760"/>
            <a:ext cx="2286000" cy="91440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29000" y="3941064"/>
            <a:ext cx="45720" cy="62179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30168" y="395935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2b. YOLOv8-Pose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4343400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17 keypoints corporais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926080"/>
            <a:ext cx="2423160" cy="105156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072384"/>
            <a:ext cx="45720" cy="758951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906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3. Engine de decisão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74720"/>
            <a:ext cx="2039112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RULA/REBA + regras NR-17/35 + ausência de EPI por pessoa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926080"/>
            <a:ext cx="2103120" cy="91440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0" y="3072384"/>
            <a:ext cx="45720" cy="62179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45168" y="30906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4. Alerta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3474720"/>
            <a:ext cx="1719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Verde / vermelho, por operador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017520" y="3337560"/>
            <a:ext cx="320040" cy="146304"/>
          </a:xfrm>
          <a:prstGeom prst="right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5806440" y="3337560"/>
            <a:ext cx="320040" cy="146304"/>
          </a:xfrm>
          <a:prstGeom prst="rightArrow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8750808" y="3337560"/>
            <a:ext cx="365760" cy="146304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0908792" cy="82296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605272"/>
            <a:ext cx="45720" cy="58521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6509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D3EE"/>
                </a:solidFill>
                <a:latin typeface="Arial"/>
              </a:rPr>
              <a:t>Decisão fundida, não no modelo: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7B0BE"/>
                </a:solidFill>
                <a:latin typeface="Arial"/>
              </a:rPr>
              <a:t>os dois pipelines são independentes e a engine cruza presença de EPI, postura e zona — robusto e barato.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O que a banca vai ver ao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65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Banca Fase 2  • 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3456432" cy="22402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112264"/>
            <a:ext cx="45720" cy="194767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30552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1 · Conformidade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14600"/>
            <a:ext cx="307238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7B0BE"/>
                </a:solidFill>
                <a:latin typeface="Arial"/>
              </a:rPr>
              <a:t>Operador com EPI e postura OK → AREA SEGURA. Esqueleto verde, RULA/REBA baixos.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3712" y="1965960"/>
            <a:ext cx="3456432" cy="22402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53712" y="2112264"/>
            <a:ext cx="45720" cy="194767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79" y="2130552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2 · EPI ausente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514600"/>
            <a:ext cx="307238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7B0BE"/>
                </a:solidFill>
                <a:latin typeface="Arial"/>
              </a:rPr>
              <a:t>Operador sem capacete → caixa vermelha e “SEM: Capacete”. Atribuição por pessoa (multi-pessoa).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343" y="1965960"/>
            <a:ext cx="3456432" cy="22402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467343" y="2112264"/>
            <a:ext cx="45720" cy="1947672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68511" y="2130552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3 · Risco de postura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514600"/>
            <a:ext cx="307238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7B0BE"/>
                </a:solidFill>
                <a:latin typeface="Arial"/>
              </a:rPr>
              <a:t>Tronco fletido / queda simulada → RISCO IMEDIATO e predição de queda antes do impacto.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26280"/>
            <a:ext cx="10908792" cy="914400"/>
          </a:xfrm>
          <a:prstGeom prst="roundRect">
            <a:avLst/>
          </a:prstGeom>
          <a:solidFill>
            <a:srgbClr val="1A2230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27271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2D3EE"/>
                </a:solidFill>
                <a:latin typeface="Arial"/>
              </a:rPr>
              <a:t>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272719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keypoints 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7278" y="4663440"/>
            <a:ext cx="27271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2C55E"/>
                </a:solidFill>
                <a:latin typeface="Arial"/>
              </a:rPr>
              <a:t>RULA/REBA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7278" y="5138928"/>
            <a:ext cx="272719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score por pessoa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4663440"/>
            <a:ext cx="27271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8A00"/>
                </a:solidFill>
                <a:latin typeface="Arial"/>
              </a:rPr>
              <a:t>0,5–1,5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4476" y="5138928"/>
            <a:ext cx="272719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antecedência de queda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1674" y="4663440"/>
            <a:ext cx="27271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8FAFC"/>
                </a:solidFill>
                <a:latin typeface="Arial"/>
              </a:rPr>
              <a:t>multi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1674" y="5138928"/>
            <a:ext cx="272719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pessoas em cena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62356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Arial"/>
              </a:rPr>
              <a:t>Métrica honesta: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7B0BE"/>
                </a:solidFill>
                <a:latin typeface="Arial"/>
              </a:rPr>
              <a:t>o modelo de pose é COCO pré-treinado (generaliza para a sala). PCK, acurácia postural e latência serão medidos na máquina da demo e reportados na arguição — dados, não opinião.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O que diferencia o Tortuga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7B0BE"/>
                </a:solidFill>
                <a:latin typeface="Arial"/>
              </a:rPr>
              <a:t>Não-óbvio: o que qualquer time NÃO faria por padrão.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65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Banca Fase 2  • 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77823" y="22311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2212848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RULA / REBA automatizado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Coordenadas viram score ergonômico (NR-17). Índice por operador/turno para o SSMA.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3712" y="1965960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791455" y="2231136"/>
            <a:ext cx="292608" cy="29260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212848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Predição de queda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743200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Velocidade angular do tronco antecipa a queda 0,5–1,5 s antes (NR-35).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343" y="1965960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705087" y="2231136"/>
            <a:ext cx="292608" cy="292608"/>
          </a:xfrm>
          <a:prstGeom prst="ellipse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07423" y="2212848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Ausência sem classe “NO-X”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95943" y="2743200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Inferida na decisão e atribuída por pessoa — funciona p/ os 5 EPIs de uma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69079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3" y="4334255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80160" y="4315967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Filtro anatômico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19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Não confunde avaliador, manequim ou máquina com trabalhador. Pensado para a Fase 4.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53712" y="4069079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791455" y="4334255"/>
            <a:ext cx="292608" cy="292608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93792" y="4315967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Fadiga &amp; multi-pessoa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4846319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Tendência de RULA por sessão e distância segura entre operadores.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3" y="4069079"/>
            <a:ext cx="3456432" cy="17830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705087" y="4334255"/>
            <a:ext cx="292608" cy="292608"/>
          </a:xfrm>
          <a:prstGeom prst="ellipse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07423" y="4315967"/>
            <a:ext cx="26791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Engenharia honesta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5943" y="4846319"/>
            <a:ext cx="304495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7B0BE"/>
                </a:solidFill>
                <a:latin typeface="Arial"/>
              </a:rPr>
              <a:t>Diagnosticamos e corrigimos uma regressão de dataset — com guarda anti-erro no treino.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Próximos passos e o que pedimos à banca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7B0BE"/>
                </a:solidFill>
                <a:latin typeface="Arial"/>
              </a:rPr>
              <a:t>Plano para a Fase 3, riscos mapeados e um ask objetivo.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65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8A00"/>
                </a:solidFill>
                <a:latin typeface="Arial"/>
              </a:rPr>
              <a:t>TORTUGA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Banca Fase 2  • 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49240" cy="20116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112264"/>
            <a:ext cx="45720" cy="171907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30552"/>
            <a:ext cx="49834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Fase 3 — Notificação inteligente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14600"/>
            <a:ext cx="496519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7B0BE"/>
                </a:solidFill>
                <a:latin typeface="Arial"/>
              </a:rPr>
              <a:t>Dois canais (sonoro/visual no campo + dashboard/push à gestão), política de severidade em 3 níveis (crítica &lt; 1 s, alta &lt; 5 s, informativa) e linguagem educativa, não punitiva.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5349240" cy="2011680"/>
          </a:xfrm>
          <a:prstGeom prst="roundRect">
            <a:avLst/>
          </a:prstGeom>
          <a:solidFill>
            <a:srgbClr val="151B24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2112264"/>
            <a:ext cx="45720" cy="1719072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2130552"/>
            <a:ext cx="49834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Fase 4 — Metaindústria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514600"/>
            <a:ext cx="496519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7B0BE"/>
                </a:solidFill>
                <a:latin typeface="Arial"/>
              </a:rPr>
              <a:t>Rodar na câmera IP do ambiente simulado, robustez a iluminação e múltiplas pessoas, latência E2E e estabilidade ≥ 30 min. Plano de execução em 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5349240" cy="1325880"/>
          </a:xfrm>
          <a:prstGeom prst="roundRect">
            <a:avLst/>
          </a:prstGeom>
          <a:solidFill>
            <a:srgbClr val="1A2230"/>
          </a:solidFill>
          <a:ln w="12700">
            <a:solidFill>
              <a:srgbClr val="263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325112"/>
            <a:ext cx="45720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F4444"/>
                </a:solidFill>
                <a:latin typeface="Arial"/>
              </a:rPr>
              <a:t>Riscos mapeados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7B0BE"/>
                </a:solidFill>
                <a:latin typeface="Arial"/>
              </a:rPr>
              <a:t>• Gap de domínio (sala ≠ obra) → mitigado com dados próprios rotulados.
• Latência em multi-pessoa → ajuste de resolução de inferência.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206240"/>
            <a:ext cx="5349240" cy="1325880"/>
          </a:xfrm>
          <a:prstGeom prst="roundRect">
            <a:avLst/>
          </a:prstGeom>
          <a:solidFill>
            <a:srgbClr val="151B24"/>
          </a:solidFill>
          <a:ln w="15875">
            <a:solidFill>
              <a:srgbClr val="FF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325112"/>
            <a:ext cx="45720" cy="109728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431596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8A00"/>
                </a:solidFill>
                <a:latin typeface="Arial"/>
              </a:rPr>
              <a:t>Nosso ask à banca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8172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rial"/>
              </a:rPr>
              <a:t>Validar a política de severidade e os canais prioritários (sonoro? visual? push?) para o ambiente real da SPI na Fase 3.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715000"/>
            <a:ext cx="10908792" cy="566928"/>
          </a:xfrm>
          <a:prstGeom prst="round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824728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A1206"/>
                </a:solidFill>
                <a:latin typeface="Arial"/>
              </a:rPr>
              <a:t>Da detecção à prevenção: o Tortuga já enxerga o EPI, entende a postura e antecipa o risco.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28910</TotalTime>
  <Words>1155</Words>
  <Application>Microsoft Office PowerPoint</Application>
  <PresentationFormat>Widescreen</PresentationFormat>
  <Paragraphs>101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Celso Fernando</cp:lastModifiedBy>
  <cp:revision>4</cp:revision>
  <dcterms:created xsi:type="dcterms:W3CDTF">2013-01-27T09:14:16Z</dcterms:created>
  <dcterms:modified xsi:type="dcterms:W3CDTF">2026-07-12T21:54:08Z</dcterms:modified>
  <cp:category/>
</cp:coreProperties>
</file>